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 Index</c:v>
                </c:pt>
              </c:strCache>
            </c:strRef>
          </c:tx>
          <c:spPr>
            <a:solidFill>
              <a:srgbClr val="E05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101.32</c:v>
                </c:pt>
                <c:pt idx="1">
                  <c:v>102.32</c:v>
                </c:pt>
                <c:pt idx="2">
                  <c:v>104.89</c:v>
                </c:pt>
                <c:pt idx="3">
                  <c:v>113.2</c:v>
                </c:pt>
                <c:pt idx="4">
                  <c:v>120.9</c:v>
                </c:pt>
                <c:pt idx="5">
                  <c:v>124.85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Purchasing Power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101.16</c:v>
                </c:pt>
                <c:pt idx="1">
                  <c:v>102.07</c:v>
                </c:pt>
                <c:pt idx="2">
                  <c:v>105.41</c:v>
                </c:pt>
                <c:pt idx="3">
                  <c:v>102.72</c:v>
                </c:pt>
                <c:pt idx="4">
                  <c:v>102.41</c:v>
                </c:pt>
                <c:pt idx="5">
                  <c:v>105.16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95"/>
        </c:scaling>
        <c:delete val="0"/>
        <c:axPos val="l"/>
        <c:majorGridlines>
          <c:spPr>
            <a:ln w="6350" cap="flat">
              <a:solidFill>
                <a:srgbClr val="D6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(index points)</c:v>
                </c:pt>
              </c:strCache>
            </c:strRef>
          </c:tx>
          <c:spPr>
            <a:solidFill>
              <a:srgbClr val="E05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 2024</c:v>
                  </c:pt>
                  <c:pt idx="1">
                    <c:v>Aug 2024</c:v>
                  </c:pt>
                  <c:pt idx="2">
                    <c:v>Oct 2024</c:v>
                  </c:pt>
                  <c:pt idx="3">
                    <c:v>Dec 2024</c:v>
                  </c:pt>
                  <c:pt idx="4">
                    <c:v>Nov 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-19.94</c:v>
                </c:pt>
                <c:pt idx="1">
                  <c:v>-20.11</c:v>
                </c:pt>
                <c:pt idx="2">
                  <c:v>-20.15</c:v>
                </c:pt>
                <c:pt idx="3">
                  <c:v>-20.29</c:v>
                </c:pt>
                <c:pt idx="4">
                  <c:v>-20.63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Wage Growth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</c:v>
                </c:pt>
                <c:pt idx="1">
                  <c:v>0.39</c:v>
                </c:pt>
                <c:pt idx="2">
                  <c:v>0.07</c:v>
                </c:pt>
                <c:pt idx="3">
                  <c:v>-0.44</c:v>
                </c:pt>
                <c:pt idx="4">
                  <c:v>0.17</c:v>
                </c:pt>
                <c:pt idx="5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D8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ECONOMIC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Purchasing Power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2019–2024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wages keep up with inflation?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says no. And the story is worse than the headlines suggest.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456432"/>
            <a:ext cx="10972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393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 Ososanya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Graduate  |  Data Analytics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ONS CPIH Inflation Index &amp; ONS Average Weekly Earnings  |  Period: Jan 2019 – Dec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2019 and 2024, did UK workers' wages keep pace with inflation, and what does the answer mean for financial wellbeing?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40690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2587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862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CPIH inflation index and ONS Average Weekly Earnings (real terms), both sourced directly from official government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4028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240280"/>
            <a:ext cx="40690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65192" y="2587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Indexing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862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cleaned, merged on date, and indexed to January 2019 = 100 to enable direct comparison on the same scale.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40690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4187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used to query annual trends, identify inflection points, find the worst months, and calculate wage momentum over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56616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566160"/>
            <a:ext cx="40690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65192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Visualisation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192" y="4187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used to chart the growing gap between inflation and purchasing power across the full 2019 to 2024 period.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Never Kept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Gap: Inflation Index vs Purchasing Power Index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4572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234440"/>
            <a:ext cx="3337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49240" y="1234440"/>
            <a:ext cx="64008" cy="10789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2120" y="1325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532120" y="1801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year wages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outpaced inflation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2496312"/>
            <a:ext cx="3337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2496312"/>
            <a:ext cx="64008" cy="107899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25877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-19.69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5321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49240" y="3758184"/>
            <a:ext cx="3337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49240" y="3758184"/>
            <a:ext cx="64008" cy="107899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38496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532120" y="43251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 since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Squeeze Started Earlier Than the Headlines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176272"/>
            <a:ext cx="8229600" cy="54864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29968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24912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24912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indices set to 100. Workers and prices start level.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02996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724912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724912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warning 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24328" y="32461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slip behind inflation for the first time. 12 months before crisis headlines.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029968"/>
            <a:ext cx="292608" cy="29260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24912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724912"/>
            <a:ext cx="192024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catch 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1728" y="32461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spikes +10 points in a single year. The cost of living crisis becomes front page news.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029968"/>
            <a:ext cx="292608" cy="29260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2724912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2724912"/>
            <a:ext cx="192024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28346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 recorded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9128" y="324612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reaches -20.63 index points. The crisis peak arrived 2 years after the squeeze began.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Was the Worst Year. Not 2022.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Worst Months for Purchasing Power (gap, index points)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234440"/>
            <a:ext cx="333756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417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2024 felt worse than 2022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32120" y="1938528"/>
            <a:ext cx="146304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8928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never fell. They just rose more slowly in 2023 and 2024.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32120" y="2596896"/>
            <a:ext cx="146304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5511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were still recovering from the 2022 shock throughout 2023.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32120" y="3255264"/>
            <a:ext cx="146304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3209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accumulated gap kept widening even as headline inflation slowed.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32120" y="3913632"/>
            <a:ext cx="146304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Nov 2024, workers could buy roughly 20% less than if wages had tracked prices since Jan 2019.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Underway. But Incomplete.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Wage Growth by Year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207008"/>
            <a:ext cx="3931920" cy="841248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0" y="1207008"/>
            <a:ext cx="64008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472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19472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279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treating 2022 as the peak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19472" y="16093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month was Nov 2024. Strategy built on a 2022 peak assumption is working from the wrong baseline.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167128"/>
            <a:ext cx="3931920" cy="841248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167128"/>
            <a:ext cx="64008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9472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19472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279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gap in real time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9472" y="2569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squeeze started Sep 2021, a year before headlines. Track wages vs inflation monthly, not annually.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127248"/>
            <a:ext cx="3931920" cy="841248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127248"/>
            <a:ext cx="64008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9472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19472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279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recovery, not restriction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19472" y="35295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need rebuilding tools, not budgeting advice. The data shows a structural squeeze, not overspending.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4087368"/>
            <a:ext cx="3931920" cy="841248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4087368"/>
            <a:ext cx="64008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19472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279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a multi-year recovery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19472" y="44897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momentum is positive but the accumulated gap is large. Calibrate to a 2024–2027 recovery window.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 Ososanya  |  github.com/ayoososanya  |  ayoososanya.github.io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Purchasing Power Analysis 2019-2024</dc:title>
  <dc:subject>PptxGenJS Presentation</dc:subject>
  <dc:creator>Ayoola Ososanya</dc:creator>
  <cp:lastModifiedBy>Ayoola Ososanya</cp:lastModifiedBy>
  <cp:revision>1</cp:revision>
  <dcterms:created xsi:type="dcterms:W3CDTF">2026-04-28T08:57:02Z</dcterms:created>
  <dcterms:modified xsi:type="dcterms:W3CDTF">2026-04-28T08:57:02Z</dcterms:modified>
</cp:coreProperties>
</file>